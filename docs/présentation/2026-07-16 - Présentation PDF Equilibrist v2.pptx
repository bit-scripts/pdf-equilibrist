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3383280"/>
            <a:ext cx="11987784" cy="45720"/>
          </a:xfrm>
          <a:prstGeom prst="rect">
            <a:avLst/>
          </a:prstGeom>
          <a:solidFill>
            <a:srgbClr val="6BB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PDF Equilibrist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77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6BBF4E"/>
                </a:solidFill>
              </a:rPr>
              <a:t>Éditeur PDF desktop Windows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66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8A8A"/>
                </a:solidFill>
              </a:rPr>
              <a:t>Besoin métier · Fonctionnalités · Architecture · Déploiement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8A8A"/>
                </a:solidFill>
              </a:rPr>
              <a:t>Juillet 2026  —  v2.0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6BB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Aperçu de l'application</a:t>
            </a:r>
          </a:p>
        </p:txBody>
      </p:sp>
      <p:pic>
        <p:nvPicPr>
          <p:cNvPr id="6" name="Picture 5" descr="screenshot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868680"/>
            <a:ext cx="1078992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6BB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 — Le besoin métier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BF4E"/>
                </a:solidFill>
              </a:rPr>
              <a:t>Contexte et problématique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5661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3566160" cy="347472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1732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BF4E"/>
                </a:solidFill>
              </a:rPr>
              <a:t>Problème actuel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828800"/>
            <a:ext cx="3337560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Les PDF dominent la diffusion des documents finals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Modification impossible sans logiciel dédié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Outils lourds ou coûteux (Adobe Acrobat, Nitro…)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Dépendance à des solutions cloud non maîtrisées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1371600"/>
            <a:ext cx="35661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371600"/>
            <a:ext cx="3566160" cy="347472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41732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BF4E"/>
                </a:solidFill>
              </a:rPr>
              <a:t>Besoin ciblé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828800"/>
            <a:ext cx="3337560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Corriger ou enrichir un PDF sans re-traitement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Annoter, sécuriser, convertir depuis Windows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Flux de travail local, sans dépendance cloud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Impression fidèle des documents techniques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371600"/>
            <a:ext cx="35661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371600"/>
            <a:ext cx="3566160" cy="347472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41732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BF4E"/>
                </a:solidFill>
              </a:rPr>
              <a:t>Qui est concerné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1828800"/>
            <a:ext cx="3337560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Équipes administratives et de documentation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Services production / coordination de projets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Gestion de documents sensibles ou règlementés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Plans techniques AutoCAD, documents multi-pages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6BB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 — Fonctionnalités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BF4E"/>
                </a:solidFill>
              </a:rPr>
              <a:t>6 domaines fonctionnels couverts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325880"/>
            <a:ext cx="1874519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325880"/>
            <a:ext cx="1874519" cy="347472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371600"/>
            <a:ext cx="16916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BF4E"/>
                </a:solidFill>
              </a:rPr>
              <a:t>👁  Afficher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83080"/>
            <a:ext cx="1645919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222222"/>
                </a:solidFill>
              </a:rPr>
              <a:t>▸ Zoom 25–400 %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22222"/>
                </a:solidFill>
              </a:rPr>
              <a:t>▸ Rotation pages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22222"/>
                </a:solidFill>
              </a:rPr>
              <a:t>▸ Miniatures latérales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22222"/>
                </a:solidFill>
              </a:rPr>
              <a:t>▸ Multi-documents (onglets)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30551" y="1325880"/>
            <a:ext cx="1874519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30551" y="1325880"/>
            <a:ext cx="1874519" cy="347472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1" y="1371600"/>
            <a:ext cx="16916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BF4E"/>
                </a:solidFill>
              </a:rPr>
              <a:t>✏️  Modifier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5143" y="1783080"/>
            <a:ext cx="1645919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222222"/>
                </a:solidFill>
              </a:rPr>
              <a:t>▸ Édition de texte inline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22222"/>
                </a:solidFill>
              </a:rPr>
              <a:t>▸ Ajout texte / image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22222"/>
                </a:solidFill>
              </a:rPr>
              <a:t>▸ Filigrane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22222"/>
                </a:solidFill>
              </a:rPr>
              <a:t>▸ Tampon / signature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59934" y="1325880"/>
            <a:ext cx="1874519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59934" y="1325880"/>
            <a:ext cx="1874519" cy="347472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97094" y="1371600"/>
            <a:ext cx="16916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BF4E"/>
                </a:solidFill>
              </a:rPr>
              <a:t>📋  Annoter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6" y="1783080"/>
            <a:ext cx="1645919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222222"/>
                </a:solidFill>
              </a:rPr>
              <a:t>▸ Surlignage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22222"/>
                </a:solidFill>
              </a:rPr>
              <a:t>▸ Barré / Souligné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22222"/>
                </a:solidFill>
              </a:rPr>
              <a:t>▸ Zone de texte libre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22222"/>
                </a:solidFill>
              </a:rPr>
              <a:t>▸ Placement flottant interactif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17" y="1325880"/>
            <a:ext cx="1874519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9317" y="1325880"/>
            <a:ext cx="1874519" cy="347472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77" y="1371600"/>
            <a:ext cx="16916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BF4E"/>
                </a:solidFill>
              </a:rPr>
              <a:t>📄  Pages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3909" y="1783080"/>
            <a:ext cx="1645919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222222"/>
                </a:solidFill>
              </a:rPr>
              <a:t>▸ Insertion / découpage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22222"/>
                </a:solidFill>
              </a:rPr>
              <a:t>▸ Fusion de PDFs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22222"/>
                </a:solidFill>
              </a:rPr>
              <a:t>▸ Rotation / inversion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22222"/>
                </a:solidFill>
              </a:rPr>
              <a:t>▸ Recadrage pages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18700" y="1325880"/>
            <a:ext cx="1874519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18700" y="1325880"/>
            <a:ext cx="1874519" cy="347472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55860" y="1371600"/>
            <a:ext cx="16916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BF4E"/>
                </a:solidFill>
              </a:rPr>
              <a:t>🔄  Convertir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2" y="1783080"/>
            <a:ext cx="1645919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222222"/>
                </a:solidFill>
              </a:rPr>
              <a:t>▸ PDF → Word / Excel / PPT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22222"/>
                </a:solidFill>
              </a:rPr>
              <a:t>▸ PDF → Images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22222"/>
                </a:solidFill>
              </a:rPr>
              <a:t>▸ Image / Office → PDF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22222"/>
                </a:solidFill>
              </a:rPr>
              <a:t>▸ Traitement par lot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48083" y="1325880"/>
            <a:ext cx="1874519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48083" y="1325880"/>
            <a:ext cx="1874519" cy="347472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85243" y="1371600"/>
            <a:ext cx="16916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BF4E"/>
                </a:solidFill>
              </a:rPr>
              <a:t>🔒  Protéger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75" y="1783080"/>
            <a:ext cx="1645919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222222"/>
                </a:solidFill>
              </a:rPr>
              <a:t>▸ Chiffrement AES-256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22222"/>
                </a:solidFill>
              </a:rPr>
              <a:t>▸ Déchiffrement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22222"/>
                </a:solidFill>
              </a:rPr>
              <a:t>▸ Gestion des permissions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222222"/>
                </a:solidFill>
              </a:rPr>
              <a:t>▸ Impression sécurisée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6BB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 — Utilisateurs et cas d'usage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BF4E"/>
                </a:solidFill>
              </a:rPr>
              <a:t>Profils prioritaires identifiés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371600"/>
            <a:ext cx="2926080" cy="1261872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71907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BF4E"/>
                </a:solidFill>
              </a:rPr>
              <a:t>🏢  Équipes administratives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82112" y="1371600"/>
            <a:ext cx="864108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1572768"/>
            <a:ext cx="83667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22222"/>
                </a:solidFill>
              </a:rPr>
              <a:t>Correction de texte, mise à jour de documents, annotations de relecture, ajout de signatures.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2770632"/>
            <a:ext cx="2926080" cy="1261872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311810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BF4E"/>
                </a:solidFill>
              </a:rPr>
              <a:t>📦  Services production / documentation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2112" y="2770632"/>
            <a:ext cx="864108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2" y="2971800"/>
            <a:ext cx="83667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22222"/>
                </a:solidFill>
              </a:rPr>
              <a:t>Filigranes, tampons de validation, conversions Office↔PDF, traitement par lot de dossiers.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4169664"/>
            <a:ext cx="2926080" cy="1261872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" y="451713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BF4E"/>
                </a:solidFill>
              </a:rPr>
              <a:t>👔  Direction / coordination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82112" y="4169664"/>
            <a:ext cx="864108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64992" y="4370832"/>
            <a:ext cx="83667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22222"/>
                </a:solidFill>
              </a:rPr>
              <a:t>Chiffrement AES-256, contrôle des permissions, diffusion de documents sensibles ou réglementés.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5568696"/>
            <a:ext cx="2926080" cy="1261872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59161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BF4E"/>
                </a:solidFill>
              </a:rPr>
              <a:t>📐  Bureaux techniques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82112" y="5568696"/>
            <a:ext cx="864108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64992" y="5769864"/>
            <a:ext cx="83667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22222"/>
                </a:solidFill>
              </a:rPr>
              <a:t>Impression de plans AutoCAD (traits fins, hachures), fusion de livrables multi-pages, recadrage.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6BB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4 — Architecture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BF4E"/>
                </a:solidFill>
              </a:rPr>
              <a:t>Stack open-source · Sans droits admin · Windows 10/11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3035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303520" cy="347472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17320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BF4E"/>
                </a:solidFill>
              </a:rPr>
              <a:t>Stack technique (MIT / AGPL-3)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828800"/>
            <a:ext cx="5074920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PyQt6 — interface graphique native Windows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PyMuPDF (fitz) — moteur PDF open-source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PyInstaller — exe autonome (~100 Mo)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Chiffrement AES-256 via PyMuPDF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Impression Win32 GDI — rendu vectoriel haute qualité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371600"/>
            <a:ext cx="5943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1371600"/>
            <a:ext cx="5943600" cy="347472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41732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BF4E"/>
                </a:solidFill>
              </a:rPr>
              <a:t>Déploiement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1828800"/>
            <a:ext cx="571500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Installation NSIS sans droits administrateur (HKCU)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Aucune donnée transmise — 100 % local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Aucune dépendance cloud en fonctionnement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CI/CD : build automatique sur tag Git (GitHub Actions)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Désinstallation propre via Programmes et fonctionnalités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4160520"/>
            <a:ext cx="5943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4160520"/>
            <a:ext cx="5943600" cy="347472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420624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BF4E"/>
                </a:solidFill>
              </a:rPr>
              <a:t>Dépendances optionnelles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4617720"/>
            <a:ext cx="571500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MS Office ou LibreOffice — requis pour conversion Office→PDF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Windows 10 / 11 uniquement (Win32 GDI, APIs Qt6)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6BB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5 — Valeur fonctionnelle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BF4E"/>
                </a:solidFill>
              </a:rPr>
              <a:t>Apports concrets pour les équipes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71600"/>
            <a:ext cx="56692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371600"/>
            <a:ext cx="82296" cy="2148840"/>
          </a:xfrm>
          <a:prstGeom prst="rect">
            <a:avLst/>
          </a:prstGeom>
          <a:solidFill>
            <a:srgbClr val="6BB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481328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</a:rPr>
              <a:t>⚡  Productivité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96596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8A8A8A"/>
                </a:solidFill>
              </a:rPr>
              <a:t>Remplace plusieurs outils disparates par une interface unique, locale et maîtrisée.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6692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82296" cy="2148840"/>
          </a:xfrm>
          <a:prstGeom prst="rect">
            <a:avLst/>
          </a:prstGeom>
          <a:solidFill>
            <a:srgbClr val="6BB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481328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</a:rPr>
              <a:t>🔒  Conformité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196596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8A8A8A"/>
                </a:solidFill>
              </a:rPr>
              <a:t>Chiffrement AES-256, gestion des permissions et traçabilité des accès aux documents sensibles.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703320"/>
            <a:ext cx="56692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3703320"/>
            <a:ext cx="82296" cy="2148840"/>
          </a:xfrm>
          <a:prstGeom prst="rect">
            <a:avLst/>
          </a:prstGeom>
          <a:solidFill>
            <a:srgbClr val="6BB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3813048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</a:rPr>
              <a:t>🖨️  Qualité d'impression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" y="429768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8A8A8A"/>
                </a:solidFill>
              </a:rPr>
              <a:t>Rendu fidèle des plans techniques (AutoCAD) : traits fins visibles, hachures filtrées.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703320"/>
            <a:ext cx="56692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703320"/>
            <a:ext cx="82296" cy="2148840"/>
          </a:xfrm>
          <a:prstGeom prst="rect">
            <a:avLst/>
          </a:prstGeom>
          <a:solidFill>
            <a:srgbClr val="6BB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3813048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</a:rPr>
              <a:t>🔧  Maintenabilité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429768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8A8A8A"/>
                </a:solidFill>
              </a:rPr>
              <a:t>Code Python structuré, open-source, versioning Git, CI/CD — évolutions et correctifs facilitées.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1280160"/>
            <a:ext cx="11987784" cy="36576"/>
          </a:xfrm>
          <a:prstGeom prst="rect">
            <a:avLst/>
          </a:prstGeom>
          <a:solidFill>
            <a:srgbClr val="6BB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Prochaines étapes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2697480" cy="402336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697480" cy="45720"/>
          </a:xfrm>
          <a:prstGeom prst="rect">
            <a:avLst/>
          </a:prstGeom>
          <a:solidFill>
            <a:srgbClr val="6BB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BBF4E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Analyse fonctionnelle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24688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8A8A"/>
                </a:solidFill>
              </a:rPr>
              <a:t>Revue des cas d'usage prioritaires avec les équipes métier concernées.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645920"/>
            <a:ext cx="2697480" cy="402336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4992" y="1645920"/>
            <a:ext cx="2697480" cy="45720"/>
          </a:xfrm>
          <a:prstGeom prst="rect">
            <a:avLst/>
          </a:prstGeom>
          <a:solidFill>
            <a:srgbClr val="6BB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17556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BBF4E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860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Évaluation sécurité (PISO)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880360"/>
            <a:ext cx="24688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8A8A"/>
                </a:solidFill>
              </a:rPr>
              <a:t>Audit des dépendances, revue du code source, validation de la politique d'installation HKCU.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7064" y="1645920"/>
            <a:ext cx="2697480" cy="402336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7064" y="1645920"/>
            <a:ext cx="2697480" cy="45720"/>
          </a:xfrm>
          <a:prstGeom prst="rect">
            <a:avLst/>
          </a:prstGeom>
          <a:solidFill>
            <a:srgbClr val="6BB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7556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BBF4E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2860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Pilote interne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880360"/>
            <a:ext cx="24688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8A8A"/>
                </a:solidFill>
              </a:rPr>
              <a:t>Déploiement sur poste(s) cible(s), retours utilisateurs, ajustements fonctionnels.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89136" y="1645920"/>
            <a:ext cx="2697480" cy="402336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89136" y="1645920"/>
            <a:ext cx="2697480" cy="45720"/>
          </a:xfrm>
          <a:prstGeom prst="rect">
            <a:avLst/>
          </a:prstGeom>
          <a:solidFill>
            <a:srgbClr val="6BB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26296" y="17556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BBF4E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22860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Mise en 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2880360"/>
            <a:ext cx="24688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8A8A"/>
                </a:solidFill>
              </a:rPr>
              <a:t>Packaging NSIS, distribution via canal interne, CI/CD sur tag Git pour les mises à jour.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